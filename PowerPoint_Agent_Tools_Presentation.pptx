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Tool Distribution by Category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Tools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Creation</c:v>
                </c:pt>
                <c:pt idx="1">
                  <c:v>Slides</c:v>
                </c:pt>
                <c:pt idx="2">
                  <c:v>Shapes</c:v>
                </c:pt>
                <c:pt idx="3">
                  <c:v>Text</c:v>
                </c:pt>
                <c:pt idx="4">
                  <c:v>Images</c:v>
                </c:pt>
                <c:pt idx="5">
                  <c:v>Charts</c:v>
                </c:pt>
                <c:pt idx="6">
                  <c:v>Tables</c:v>
                </c:pt>
                <c:pt idx="7">
                  <c:v>Inspection</c:v>
                </c:pt>
                <c:pt idx="8">
                  <c:v>Validation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4</c:v>
                </c:pt>
                <c:pt idx="2">
                  <c:v>8</c:v>
                </c:pt>
                <c:pt idx="3">
                  <c:v>4</c:v>
                </c:pt>
                <c:pt idx="4">
                  <c:v>4</c:v>
                </c:pt>
                <c:pt idx="5">
                  <c:v>5</c:v>
                </c:pt>
                <c:pt idx="6">
                  <c:v>2</c:v>
                </c:pt>
                <c:pt idx="7">
                  <c:v>5</c:v>
                </c:pt>
                <c:pt idx="8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PowerPoint Agent Tools - Opening Slide. This presentation was created entirely using CLI tools from the powerpoint-agent-tools project, demonstrating the E2E verification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features: 42+ stateless CLI tools, JSON-first I/O, 5 positioning systems, WCAG accessibility compliance, approval token governance for destructive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PowerPoint Agent Tools v3.1.1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PowerPoint Agent Tools v3.1.1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PowerPoint Agent Tools v3.1.1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PowerPoint Agent Tools v3.1.1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PowerPoint Agent Tools v3.1.1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PowerPoint Agent Tools v3.1.1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PowerPoint Agent Tools v3.1.1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PowerPoint Agent Tools v3.1.1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PowerPoint Agent Tools v3.1.1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PowerPoint Agent Tools v3.1.1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PowerPoint Agent Tools v3.1.1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PowerPoint Agent Tools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Production-Grade PowerPoint Manipulation for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PowerPoint Agent Tools v3.1.1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PowerPoint Agent Tools?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19169" y="1714500"/>
            <a:ext cx="9753356" cy="445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CLI-First Design</a:t>
            </a:r>
          </a:p>
          <a:p>
            <a:pPr>
              <a:defRPr sz="1800"/>
            </a:pPr>
            <a:r>
              <a:t>JSON Everywhere</a:t>
            </a:r>
          </a:p>
          <a:p>
            <a:pPr>
              <a:defRPr sz="1800"/>
            </a:pPr>
            <a:r>
              <a:t>Flexible Positioning</a:t>
            </a:r>
          </a:p>
          <a:p>
            <a:pPr>
              <a:defRPr sz="1800"/>
            </a:pPr>
            <a:r>
              <a:t>Structure-Driven</a:t>
            </a:r>
          </a:p>
          <a:p>
            <a:pPr>
              <a:defRPr sz="1800"/>
            </a:pPr>
            <a:r>
              <a:t>Validation &amp; Safety</a:t>
            </a:r>
          </a:p>
          <a:p>
            <a:pPr>
              <a:defRPr sz="1800"/>
            </a:pPr>
            <a:r>
              <a:t>Visual Design</a:t>
            </a:r>
          </a:p>
          <a:p>
            <a:pPr>
              <a:defRPr sz="1800"/>
            </a:pPr>
            <a:r>
              <a:t>Export Capabilities</a:t>
            </a:r>
          </a:p>
          <a:p>
            <a:pPr>
              <a:defRPr sz="1800"/>
            </a:pPr>
            <a:r>
              <a:t>Introspection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PowerPoint Agent Tools v3.1.1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19169" y="1371600"/>
            <a:ext cx="9753356" cy="445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latin typeface="Calibri"/>
              </a:defRPr>
            </a:pPr>
            <a:r>
              <a:t>Create a professional presentation in 60 seconds:\n\n1. pip install python-pptx Pillow\n2. ppt_create_new.py --output pitch.pptx\n3. ppt_set_title.py --slide 0 --title "AI Revolution"\n4. ppt_add_chart.py --chart-type column\n5. ppt_check_accessibility.py --file pitch.pptx\n\nResult: A valid, accessible presentation created entirely via CLI.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PowerPoint Agent Tools v3.1.1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Catalog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19169" y="1714500"/>
            <a:ext cx="9753356" cy="445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Creation (5 tools)</a:t>
            </a:r>
          </a:p>
          <a:p>
            <a:pPr>
              <a:defRPr sz="1800"/>
            </a:pPr>
            <a:r>
              <a:t>Slide Management (4 tools)</a:t>
            </a:r>
          </a:p>
          <a:p>
            <a:pPr>
              <a:defRPr sz="1800"/>
            </a:pPr>
            <a:r>
              <a:t>Text &amp; Content (5 tools)</a:t>
            </a:r>
          </a:p>
          <a:p>
            <a:pPr>
              <a:defRPr sz="1800"/>
            </a:pPr>
            <a:r>
              <a:t>Images &amp; Media (4 tools)</a:t>
            </a:r>
          </a:p>
          <a:p>
            <a:pPr>
              <a:defRPr sz="1800"/>
            </a:pPr>
            <a:r>
              <a:t>Visual Design (8 tools)</a:t>
            </a:r>
          </a:p>
          <a:p>
            <a:pPr>
              <a:defRPr sz="1800"/>
            </a:pPr>
            <a:r>
              <a:t>Data Visualization (5 tools)</a:t>
            </a:r>
          </a:p>
          <a:p>
            <a:pPr>
              <a:defRPr sz="1800"/>
            </a:pPr>
            <a:r>
              <a:t>Inspection &amp; Analysis (5 tools)</a:t>
            </a:r>
          </a:p>
          <a:p>
            <a:pPr>
              <a:defRPr sz="1800"/>
            </a:pPr>
            <a:r>
              <a:t>Validation &amp; Export (5 tools)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PowerPoint Agent Tools v3.1.1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solidFill>
                  <a:srgbClr val="1F497D"/>
                </a:solidFill>
                <a:latin typeface="Calibri"/>
              </a:rPr>
              <a:t>Flexible Positioning Systems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595959"/>
                </a:solidFill>
                <a:latin typeface="Calibri"/>
              </a:rPr>
              <a:t>Five complementary systems for placing elements precisely on any slide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920240"/>
          <a:ext cx="1127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588264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Format Example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F497D"/>
                          </a:solidFill>
                          <a:latin typeface="Calibri"/>
                        </a:rPr>
                        <a:t>Percentage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333333"/>
                          </a:solidFill>
                          <a:latin typeface="Courier New"/>
                        </a:rPr>
                        <a:t>{left:10%, top:20%}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/>
                        </a:rPr>
                        <a:t>Responsive layouts that adapt to any slide size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F497D"/>
                          </a:solidFill>
                          <a:latin typeface="Calibri"/>
                        </a:rPr>
                        <a:t>Anchor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333333"/>
                          </a:solidFill>
                          <a:latin typeface="Courier New"/>
                        </a:rPr>
                        <a:t>{anchor:bottom_right}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/>
                        </a:rPr>
                        <a:t>Pinning headers, footers, and fixed elements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F497D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333333"/>
                          </a:solidFill>
                          <a:latin typeface="Courier New"/>
                        </a:rPr>
                        <a:t>{grid_row:2, grid_col:2}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/>
                        </a:rPr>
                        <a:t>Structured grid layouts (12x12 cell system)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F497D"/>
                          </a:solidFill>
                          <a:latin typeface="Calibri"/>
                        </a:rPr>
                        <a:t>Excel-Ref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333333"/>
                          </a:solidFill>
                          <a:latin typeface="Courier New"/>
                        </a:rPr>
                        <a:t>{grid:C4}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/>
                        </a:rPr>
                        <a:t>Spreadsheet-style cell references for Excel 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1F497D"/>
                          </a:solidFill>
                          <a:latin typeface="Calibri"/>
                        </a:rPr>
                        <a:t>Absolute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333333"/>
                          </a:solidFill>
                          <a:latin typeface="Courier New"/>
                        </a:rPr>
                        <a:t>{left:1.5, top:2.0}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/>
                        </a:rPr>
                        <a:t>Exact positioning in inches for precise design specs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PowerPoint Agent Tools v3.1.1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1F497D"/>
                </a:solidFill>
                <a:latin typeface="Calibri"/>
              </a:rPr>
              <a:t>Visual Design Capabilities</a:t>
            </a:r>
          </a:p>
        </p:txBody>
      </p:sp>
      <p:sp>
        <p:nvSpPr>
          <p:cNvPr id="11" name="Subtitle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595959"/>
                </a:solidFill>
                <a:latin typeface="Calibri"/>
              </a:rPr>
              <a:t>Shapes, connectors, and visual elements created with ppt_add_shape and related tools</a:t>
            </a:r>
          </a:p>
        </p:txBody>
      </p:sp>
      <p:sp>
        <p:nvSpPr>
          <p:cNvPr id="2" name="Rectangle 1"/>
          <p:cNvSpPr/>
          <p:nvPr/>
        </p:nvSpPr>
        <p:spPr>
          <a:xfrm>
            <a:off x="457200" y="2057400"/>
            <a:ext cx="2743200" cy="228600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 w="19050">
            <a:solidFill>
              <a:srgbClr val="005A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91440" tIns="45720" rIns="91440" bIns="4572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Rectangles</a:t>
            </a:r>
          </a:p>
          <a:p>
            <a:pPr algn="ctr">
              <a:spcAft>
                <a:spcPts val="200"/>
              </a:spcAft>
            </a:pPr>
            <a:r>
              <a:rPr lang="en-US" sz="1000" dirty="0">
                <a:solidFill>
                  <a:srgbClr val="DCE6F1"/>
                </a:solidFill>
                <a:latin typeface="Calibri"/>
              </a:rPr>
              <a:t>Rounded rects, cards, containers, content blocks</a:t>
            </a:r>
          </a:p>
        </p:txBody>
      </p:sp>
      <p:sp>
        <p:nvSpPr>
          <p:cNvPr id="3" name="Oval 2"/>
          <p:cNvSpPr/>
          <p:nvPr/>
        </p:nvSpPr>
        <p:spPr>
          <a:xfrm>
            <a:off x="3657600" y="2057400"/>
            <a:ext cx="2743200" cy="2286000"/>
          </a:xfrm>
          <a:prstGeom prst="ellipse">
            <a:avLst/>
          </a:prstGeom>
          <a:solidFill>
            <a:srgbClr val="70AD47"/>
          </a:solidFill>
          <a:ln w="1905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91440" tIns="45720" rIns="91440" bIns="4572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Circles</a:t>
            </a:r>
          </a:p>
          <a:p>
            <a:pPr algn="ctr">
              <a:spcAft>
                <a:spcPts val="200"/>
              </a:spcAft>
            </a:pPr>
            <a:r>
              <a:rPr lang="en-US" sz="1000" dirty="0">
                <a:solidFill>
                  <a:srgbClr val="E2EFDA"/>
                </a:solidFill>
                <a:latin typeface="Calibri"/>
              </a:rPr>
              <a:t>Icons, badges, highlight callouts, process nodes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6858000" y="2057400"/>
            <a:ext cx="4876800" cy="2286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D7D31"/>
          </a:solidFill>
          <a:ln w="1905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91440" tIns="45720" rIns="91440" bIns="4572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/>
              </a:rPr>
              <a:t>Arrows &amp; Connectors</a:t>
            </a:r>
          </a:p>
          <a:p>
            <a:pPr algn="ctr">
              <a:spcAft>
                <a:spcPts val="200"/>
              </a:spcAft>
            </a:pPr>
            <a:r>
              <a:rPr lang="en-US" sz="1000" dirty="0">
                <a:solidFill>
                  <a:srgbClr val="FCE4D6"/>
                </a:solidFill>
                <a:latin typeface="Calibri"/>
              </a:rPr>
              <a:t>Flowcharts, process flows, directional indicators</a:t>
            </a:r>
          </a:p>
        </p:txBody>
      </p:sp>
      <p:sp>
        <p:nvSpPr>
          <p:cNvPr id="12" name="FeatureBox"/>
          <p:cNvSpPr txBox="1"/>
          <p:nvPr/>
        </p:nvSpPr>
        <p:spPr>
          <a:xfrm>
            <a:off x="457200" y="4572000"/>
            <a:ext cx="11277600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lang="en-US" sz="1200" b="1" dirty="0">
                <a:solidFill>
                  <a:srgbClr val="1F497D"/>
                </a:solidFill>
                <a:latin typeface="Calibri"/>
              </a:rPr>
              <a:t>8 dedicated Visual Design tools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  — add, format, reposition, remove shapes, set z-order, backgrounds, and connectors</a:t>
            </a:r>
          </a:p>
          <a:p>
            <a:pPr algn="l">
              <a:spcAft>
                <a:spcPts val="400"/>
              </a:spcAft>
            </a:pPr>
            <a:r>
              <a:rPr lang="en-US" sz="1200" b="1" dirty="0">
                <a:solidFill>
                  <a:srgbClr val="1F497D"/>
                </a:solidFill>
                <a:latin typeface="Calibri"/>
              </a:rPr>
              <a:t>Full opacity control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  — semi-transparent overlays, layered composites, and watermark effects</a:t>
            </a:r>
          </a:p>
          <a:p>
            <a:pPr algn="l">
              <a:spcAft>
                <a:spcPts val="400"/>
              </a:spcAft>
            </a:pPr>
            <a:r>
              <a:rPr lang="en-US" sz="1200" b="1" dirty="0">
                <a:solidFill>
                  <a:srgbClr val="1F497D"/>
                </a:solidFill>
                <a:latin typeface="Calibri"/>
              </a:rPr>
              <a:t>Z-order management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  — bring to front / send to back for complex layered compositions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6309360"/>
            <a:ext cx="731501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PowerPoint Agent Tools v3.1.1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16359" y="6309360"/>
            <a:ext cx="609584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95959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" y="1714500"/>
          <a:ext cx="10972525" cy="44577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